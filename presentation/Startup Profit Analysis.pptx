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Bhagnani" userId="7e2453dfe9268af6" providerId="LiveId" clId="{EE260978-D9B0-43CE-B5B4-68B79B176CB1}"/>
    <pc:docChg chg="modSld">
      <pc:chgData name="Vikram Bhagnani" userId="7e2453dfe9268af6" providerId="LiveId" clId="{EE260978-D9B0-43CE-B5B4-68B79B176CB1}" dt="2025-08-14T07:51:27.682" v="50" actId="14100"/>
      <pc:docMkLst>
        <pc:docMk/>
      </pc:docMkLst>
      <pc:sldChg chg="modSp mod">
        <pc:chgData name="Vikram Bhagnani" userId="7e2453dfe9268af6" providerId="LiveId" clId="{EE260978-D9B0-43CE-B5B4-68B79B176CB1}" dt="2025-08-14T07:48:52.302" v="29" actId="20577"/>
        <pc:sldMkLst>
          <pc:docMk/>
          <pc:sldMk cId="1985847437" sldId="259"/>
        </pc:sldMkLst>
        <pc:graphicFrameChg chg="modGraphic">
          <ac:chgData name="Vikram Bhagnani" userId="7e2453dfe9268af6" providerId="LiveId" clId="{EE260978-D9B0-43CE-B5B4-68B79B176CB1}" dt="2025-08-14T07:48:52.302" v="29" actId="20577"/>
          <ac:graphicFrameMkLst>
            <pc:docMk/>
            <pc:sldMk cId="1985847437" sldId="259"/>
            <ac:graphicFrameMk id="4" creationId="{A6EC5B10-F1F8-6249-ED43-33CB57906BFB}"/>
          </ac:graphicFrameMkLst>
        </pc:graphicFrameChg>
      </pc:sldChg>
      <pc:sldChg chg="modSp mod">
        <pc:chgData name="Vikram Bhagnani" userId="7e2453dfe9268af6" providerId="LiveId" clId="{EE260978-D9B0-43CE-B5B4-68B79B176CB1}" dt="2025-08-14T07:51:08.371" v="49" actId="14100"/>
        <pc:sldMkLst>
          <pc:docMk/>
          <pc:sldMk cId="2266015355" sldId="262"/>
        </pc:sldMkLst>
        <pc:spChg chg="mod">
          <ac:chgData name="Vikram Bhagnani" userId="7e2453dfe9268af6" providerId="LiveId" clId="{EE260978-D9B0-43CE-B5B4-68B79B176CB1}" dt="2025-08-14T07:51:08.371" v="49" actId="14100"/>
          <ac:spMkLst>
            <pc:docMk/>
            <pc:sldMk cId="2266015355" sldId="262"/>
            <ac:spMk id="4" creationId="{F8C63AC2-B8B1-CDFE-1B04-966137945A90}"/>
          </ac:spMkLst>
        </pc:spChg>
      </pc:sldChg>
      <pc:sldChg chg="modSp">
        <pc:chgData name="Vikram Bhagnani" userId="7e2453dfe9268af6" providerId="LiveId" clId="{EE260978-D9B0-43CE-B5B4-68B79B176CB1}" dt="2025-08-14T07:51:27.682" v="50" actId="14100"/>
        <pc:sldMkLst>
          <pc:docMk/>
          <pc:sldMk cId="2005406017" sldId="263"/>
        </pc:sldMkLst>
        <pc:spChg chg="mod">
          <ac:chgData name="Vikram Bhagnani" userId="7e2453dfe9268af6" providerId="LiveId" clId="{EE260978-D9B0-43CE-B5B4-68B79B176CB1}" dt="2025-08-14T07:51:27.682" v="50" actId="14100"/>
          <ac:spMkLst>
            <pc:docMk/>
            <pc:sldMk cId="2005406017" sldId="263"/>
            <ac:spMk id="4" creationId="{2CEC160D-4E5C-16C6-92C4-2AB2C728D52F}"/>
          </ac:spMkLst>
        </pc:spChg>
      </pc:sldChg>
    </pc:docChg>
  </pc:docChgLst>
  <pc:docChgLst>
    <pc:chgData name="Vikram Bhagnani" userId="7e2453dfe9268af6" providerId="LiveId" clId="{075D60E2-6C94-45A3-B71A-22D106F0A9E9}"/>
    <pc:docChg chg="modSld">
      <pc:chgData name="Vikram Bhagnani" userId="7e2453dfe9268af6" providerId="LiveId" clId="{075D60E2-6C94-45A3-B71A-22D106F0A9E9}" dt="2025-08-18T08:04:16.696" v="1" actId="1038"/>
      <pc:docMkLst>
        <pc:docMk/>
      </pc:docMkLst>
      <pc:sldChg chg="modSp mod">
        <pc:chgData name="Vikram Bhagnani" userId="7e2453dfe9268af6" providerId="LiveId" clId="{075D60E2-6C94-45A3-B71A-22D106F0A9E9}" dt="2025-08-18T08:04:16.696" v="1" actId="1038"/>
        <pc:sldMkLst>
          <pc:docMk/>
          <pc:sldMk cId="1653351012" sldId="257"/>
        </pc:sldMkLst>
        <pc:spChg chg="mod">
          <ac:chgData name="Vikram Bhagnani" userId="7e2453dfe9268af6" providerId="LiveId" clId="{075D60E2-6C94-45A3-B71A-22D106F0A9E9}" dt="2025-08-18T08:04:16.696" v="1" actId="1038"/>
          <ac:spMkLst>
            <pc:docMk/>
            <pc:sldMk cId="1653351012" sldId="257"/>
            <ac:spMk id="3" creationId="{AC3809E9-06AC-C157-1F9C-265FB0A4C7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661BC-1B9F-4A99-9891-D6708FC6A253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DC31C-D9D2-46C0-97A9-22DEFCF71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48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DC31C-D9D2-46C0-97A9-22DEFCF715B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52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18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2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62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55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2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5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12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73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4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22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681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473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81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597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38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56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07D1621-4909-4F48-9479-C5D4723B7CA6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38FB8AC-601B-41A7-99F9-89B770B19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58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C8CE-44C2-7D18-0141-1B40B4D91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9404" y="1861456"/>
            <a:ext cx="8825658" cy="1348381"/>
          </a:xfrm>
        </p:spPr>
        <p:txBody>
          <a:bodyPr/>
          <a:lstStyle/>
          <a:p>
            <a:r>
              <a:rPr lang="en-IN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Startup Profit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A17C7-3802-B107-BBA8-E40D7A0BC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0032" y="3294549"/>
            <a:ext cx="8825658" cy="861420"/>
          </a:xfrm>
        </p:spPr>
        <p:txBody>
          <a:bodyPr/>
          <a:lstStyle/>
          <a:p>
            <a:r>
              <a:rPr lang="en-IN" dirty="0"/>
              <a:t>Regression Analysis &amp; Dashboard Insights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72085-7E39-E24A-33CE-763519C13D5F}"/>
              </a:ext>
            </a:extLst>
          </p:cNvPr>
          <p:cNvSpPr txBox="1"/>
          <p:nvPr/>
        </p:nvSpPr>
        <p:spPr>
          <a:xfrm>
            <a:off x="531118" y="5963522"/>
            <a:ext cx="19912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Presented by:</a:t>
            </a:r>
            <a:r>
              <a:rPr lang="en-IN" sz="1100" dirty="0"/>
              <a:t> Vikram Bhagnani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F3BF2-05BA-EE61-6A72-DCBF53344B7E}"/>
              </a:ext>
            </a:extLst>
          </p:cNvPr>
          <p:cNvSpPr txBox="1"/>
          <p:nvPr/>
        </p:nvSpPr>
        <p:spPr>
          <a:xfrm>
            <a:off x="531118" y="6109578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Date:</a:t>
            </a:r>
            <a:r>
              <a:rPr lang="en-IN" sz="1100" dirty="0"/>
              <a:t> 09/04/2025</a:t>
            </a:r>
          </a:p>
        </p:txBody>
      </p:sp>
    </p:spTree>
    <p:extLst>
      <p:ext uri="{BB962C8B-B14F-4D97-AF65-F5344CB8AC3E}">
        <p14:creationId xmlns:p14="http://schemas.microsoft.com/office/powerpoint/2010/main" val="241806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97"/>
    </mc:Choice>
    <mc:Fallback xmlns="">
      <p:transition spd="slow" advTm="153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FDE6-BF1B-B543-947C-D19F02F9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687"/>
            <a:ext cx="10515600" cy="83062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Objective of the Analysis</a:t>
            </a:r>
            <a:endParaRPr lang="en-IN" sz="40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809E9-06AC-C157-1F9C-265FB0A4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45" y="2678030"/>
            <a:ext cx="10515600" cy="26253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Content: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 regression to understand how R&amp;D, Marketing, and Admin spending affects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Visualize data using Power BI to gain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 actionable recommendations to improve profit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335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96"/>
    </mc:Choice>
    <mc:Fallback xmlns="">
      <p:transition spd="slow" advTm="305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A3A7-8644-E09B-7ED5-2EE48E89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6541"/>
          </a:xfrm>
        </p:spPr>
        <p:txBody>
          <a:bodyPr/>
          <a:lstStyle/>
          <a:p>
            <a:r>
              <a:rPr lang="en-IN" dirty="0"/>
              <a:t>Regression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B44F-D47B-BFC3-A2CD-6D6244358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252" y="2764413"/>
            <a:ext cx="8596668" cy="750459"/>
          </a:xfrm>
        </p:spPr>
        <p:txBody>
          <a:bodyPr/>
          <a:lstStyle/>
          <a:p>
            <a:pPr>
              <a:defRPr sz="1800">
                <a:solidFill>
                  <a:srgbClr val="0070C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Profit = 50122.19 + (0.8057 × R&amp;D Spend) − (0.0268 × Administration) + (0.0272 × Marketing Spend)</a:t>
            </a:r>
          </a:p>
          <a:p>
            <a:pPr marL="0" indent="0">
              <a:buNone/>
              <a:defRPr sz="1800">
                <a:solidFill>
                  <a:srgbClr val="0070C0"/>
                </a:solidFill>
              </a:defRPr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88CD10-92F9-8617-F60E-774ECB4CE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542029"/>
              </p:ext>
            </p:extLst>
          </p:nvPr>
        </p:nvGraphicFramePr>
        <p:xfrm>
          <a:off x="1106888" y="3678813"/>
          <a:ext cx="8596312" cy="1828800"/>
        </p:xfrm>
        <a:graphic>
          <a:graphicData uri="http://schemas.openxmlformats.org/drawingml/2006/table">
            <a:tbl>
              <a:tblPr/>
              <a:tblGrid>
                <a:gridCol w="2738577">
                  <a:extLst>
                    <a:ext uri="{9D8B030D-6E8A-4147-A177-3AD203B41FA5}">
                      <a16:colId xmlns:a16="http://schemas.microsoft.com/office/drawing/2014/main" val="3689383737"/>
                    </a:ext>
                  </a:extLst>
                </a:gridCol>
                <a:gridCol w="5857735">
                  <a:extLst>
                    <a:ext uri="{9D8B030D-6E8A-4147-A177-3AD203B41FA5}">
                      <a16:colId xmlns:a16="http://schemas.microsoft.com/office/drawing/2014/main" val="2886369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13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Intercept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50122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R&amp;D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49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Administration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01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Marketing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7432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0BD6DE-325E-DEC5-01FB-9A2AA480219B}"/>
              </a:ext>
            </a:extLst>
          </p:cNvPr>
          <p:cNvSpPr txBox="1">
            <a:spLocks/>
          </p:cNvSpPr>
          <p:nvPr/>
        </p:nvSpPr>
        <p:spPr>
          <a:xfrm>
            <a:off x="598621" y="4217984"/>
            <a:ext cx="8596668" cy="750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defRPr sz="1800">
                <a:solidFill>
                  <a:srgbClr val="0070C0"/>
                </a:solidFill>
              </a:defRPr>
            </a:pP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13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65"/>
    </mc:Choice>
    <mc:Fallback xmlns="">
      <p:transition spd="slow" advTm="456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2EA7-38C9-764A-0B0C-955047ED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62093"/>
            <a:ext cx="8761413" cy="706964"/>
          </a:xfrm>
        </p:spPr>
        <p:txBody>
          <a:bodyPr/>
          <a:lstStyle/>
          <a:p>
            <a:r>
              <a:rPr lang="en-IN" dirty="0"/>
              <a:t>Predicted Profits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087F6-0F22-A685-A662-6522F383B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01807"/>
            <a:ext cx="8596668" cy="441787"/>
          </a:xfrm>
        </p:spPr>
        <p:txBody>
          <a:bodyPr/>
          <a:lstStyle/>
          <a:p>
            <a:r>
              <a:rPr lang="en-IN" dirty="0"/>
              <a:t>Prediction for Given Inputs: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EC5B10-F1F8-6249-ED43-33CB57906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30898"/>
              </p:ext>
            </p:extLst>
          </p:nvPr>
        </p:nvGraphicFramePr>
        <p:xfrm>
          <a:off x="677690" y="3050248"/>
          <a:ext cx="8596312" cy="1097280"/>
        </p:xfrm>
        <a:graphic>
          <a:graphicData uri="http://schemas.openxmlformats.org/drawingml/2006/table">
            <a:tbl>
              <a:tblPr/>
              <a:tblGrid>
                <a:gridCol w="2149078">
                  <a:extLst>
                    <a:ext uri="{9D8B030D-6E8A-4147-A177-3AD203B41FA5}">
                      <a16:colId xmlns:a16="http://schemas.microsoft.com/office/drawing/2014/main" val="3201079925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292416568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582548275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5904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R&amp;D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Administration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Marketing 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Predicted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348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$21,892.92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$81,910.77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$164,270.70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$70,038.00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20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$23,940.93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$96,489.63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$137,001.10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b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$70,555.00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598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8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77"/>
    </mc:Choice>
    <mc:Fallback xmlns="">
      <p:transition spd="slow" advTm="1617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E859-C037-9CB0-DB35-AE0861CE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70857"/>
            <a:ext cx="8596668" cy="736879"/>
          </a:xfrm>
        </p:spPr>
        <p:txBody>
          <a:bodyPr>
            <a:normAutofit/>
          </a:bodyPr>
          <a:lstStyle/>
          <a:p>
            <a:r>
              <a:rPr lang="en-IN" sz="4000" dirty="0"/>
              <a:t>Regression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4090DA-78F2-5A5B-868D-517356DA0F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37413"/>
            <a:ext cx="66736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R&amp;D Spend has the strongest positive impact on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Marketing Spend has a moderate influence.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Administration Spend shows little to no correlation with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4.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Focus should be on optimizing high-impact areas.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74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71F8-73FE-C8F8-AD38-E926794D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FDF32-24DC-1510-9248-5E8C7CA4F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154" y="1870118"/>
            <a:ext cx="10325611" cy="4832418"/>
          </a:xfrm>
        </p:spPr>
      </p:pic>
    </p:spTree>
    <p:extLst>
      <p:ext uri="{BB962C8B-B14F-4D97-AF65-F5344CB8AC3E}">
        <p14:creationId xmlns:p14="http://schemas.microsoft.com/office/powerpoint/2010/main" val="229286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B9C7-A3E1-5D2E-9C9C-88E50640B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94085"/>
            <a:ext cx="8596668" cy="746927"/>
          </a:xfrm>
        </p:spPr>
        <p:txBody>
          <a:bodyPr/>
          <a:lstStyle/>
          <a:p>
            <a:r>
              <a:rPr lang="en-IN" dirty="0"/>
              <a:t>Insights from Dashboard: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C63AC2-B8B1-CDFE-1B04-966137945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320970"/>
            <a:ext cx="61018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R&amp;D vs Profit Shows Strong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Positive 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orrelation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shows variable returns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spending does not increase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companies achieve high profit with lower spend</a:t>
            </a:r>
          </a:p>
        </p:txBody>
      </p:sp>
    </p:spTree>
    <p:extLst>
      <p:ext uri="{BB962C8B-B14F-4D97-AF65-F5344CB8AC3E}">
        <p14:creationId xmlns:p14="http://schemas.microsoft.com/office/powerpoint/2010/main" val="226601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B176-9AB4-6F18-E384-443BE6B7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37778"/>
            <a:ext cx="8596668" cy="1320800"/>
          </a:xfrm>
        </p:spPr>
        <p:txBody>
          <a:bodyPr/>
          <a:lstStyle/>
          <a:p>
            <a:r>
              <a:rPr lang="en-IN" dirty="0"/>
              <a:t>Based on </a:t>
            </a:r>
            <a:r>
              <a:rPr lang="en-IN" sz="4000" dirty="0"/>
              <a:t>Analysis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EC160D-4E5C-16C6-92C4-2AB2C728D5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395015"/>
            <a:ext cx="84666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investment in R&amp;D for better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Reevaluate marketing strategies to improve ROI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 administrative expenses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high-performing companies for strategy alignment</a:t>
            </a:r>
          </a:p>
        </p:txBody>
      </p:sp>
    </p:spTree>
    <p:extLst>
      <p:ext uri="{BB962C8B-B14F-4D97-AF65-F5344CB8AC3E}">
        <p14:creationId xmlns:p14="http://schemas.microsoft.com/office/powerpoint/2010/main" val="200540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A4A2-0761-7DEB-9803-8039B81D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944" y="318811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E66A36-8AAC-C468-1CDE-C72F79536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403" y="4154993"/>
            <a:ext cx="4095635" cy="3539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Feel free to ask any questions.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595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110</TotalTime>
  <Words>247</Words>
  <Application>Microsoft Office PowerPoint</Application>
  <PresentationFormat>Widescreen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Lato Black</vt:lpstr>
      <vt:lpstr>Wingdings 3</vt:lpstr>
      <vt:lpstr>Ion Boardroom</vt:lpstr>
      <vt:lpstr>Startup Profit Analysis</vt:lpstr>
      <vt:lpstr>Objective of the Analysis</vt:lpstr>
      <vt:lpstr>Regression Analysis</vt:lpstr>
      <vt:lpstr>Predicted Profits</vt:lpstr>
      <vt:lpstr>Regression Insights</vt:lpstr>
      <vt:lpstr>Dashboard </vt:lpstr>
      <vt:lpstr>Insights from Dashboard:</vt:lpstr>
      <vt:lpstr>Based on Analysis: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Bhagnani</dc:creator>
  <cp:lastModifiedBy>Vikram Bhagnani</cp:lastModifiedBy>
  <cp:revision>3</cp:revision>
  <dcterms:created xsi:type="dcterms:W3CDTF">2025-04-09T07:27:35Z</dcterms:created>
  <dcterms:modified xsi:type="dcterms:W3CDTF">2025-08-18T08:04:25Z</dcterms:modified>
</cp:coreProperties>
</file>